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resq-2-jrec.onrender.com/demo" TargetMode="External"/><Relationship Id="rId3" Type="http://schemas.openxmlformats.org/officeDocument/2006/relationships/hyperlink" Target="https://github.com/hansrajdeghun-ai/resq2.0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resq-2-jrec.onrender.com/demo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https://resq-2-jrec.onrender.com/customer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hyperlink" Target="https://resq-2-jrec.onrender.com/area" TargetMode="External"/><Relationship Id="rId4" Type="http://schemas.openxmlformats.org/officeDocument/2006/relationships/hyperlink" Target="https://resq-2-jrec.onrender.com/owner" TargetMode="External"/><Relationship Id="rId5" Type="http://schemas.openxmlformats.org/officeDocument/2006/relationships/hyperlink" Target="https://resq-2-jrec.onrender.com/field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hyperlink" Target="https://resq-2-jrec.onrender.com/admin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resq-2-jrec.onrender.com/demo" TargetMode="External"/><Relationship Id="rId3" Type="http://schemas.openxmlformats.org/officeDocument/2006/relationships/hyperlink" Target="https://resq-2-jrec.onrender.com/customer" TargetMode="External"/><Relationship Id="rId4" Type="http://schemas.openxmlformats.org/officeDocument/2006/relationships/hyperlink" Target="https://resq-2-jrec.onrender.com/owner" TargetMode="External"/><Relationship Id="rId5" Type="http://schemas.openxmlformats.org/officeDocument/2006/relationships/hyperlink" Target="https://resq-2-jrec.onrender.com/field" TargetMode="External"/><Relationship Id="rId6" Type="http://schemas.openxmlformats.org/officeDocument/2006/relationships/hyperlink" Target="https://resq-2-jrec.onrender.com/area" TargetMode="External"/><Relationship Id="rId7" Type="http://schemas.openxmlformats.org/officeDocument/2006/relationships/hyperlink" Target="https://resq-2-jrec.onrender.com/admin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4000"/>
            </a:avLst>
          </a:prstGeom>
          <a:solidFill>
            <a:srgbClr val="F6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64592" cy="6858000"/>
          </a:xfrm>
          <a:prstGeom prst="roundRect">
            <a:avLst>
              <a:gd name="adj" fmla="val 4000"/>
            </a:avLst>
          </a:prstGeom>
          <a:solidFill>
            <a:srgbClr val="E882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E8820C"/>
                </a:solidFill>
                <a:latin typeface="Arial"/>
              </a:rPr>
              <a:t>RELIANCE DIGITAL · AI-NATIVE SERVICE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7498079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16233F"/>
                </a:solidFill>
                <a:latin typeface="Arial"/>
              </a:rPr>
              <a:t>resQ 2.0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7315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>
                <a:solidFill>
                  <a:srgbClr val="16233F"/>
                </a:solidFill>
                <a:latin typeface="Arial"/>
              </a:rPr>
              <a:t>The appliance-service agent that lives on WhatsApp.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73152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>
                <a:solidFill>
                  <a:srgbClr val="6B7284"/>
                </a:solidFill>
                <a:latin typeface="Arial"/>
              </a:rPr>
              <a:t>•  One AI agent · four WhatsApp numbers · thirteen journeys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>
                <a:solidFill>
                  <a:srgbClr val="6B7284"/>
                </a:solidFill>
                <a:latin typeface="Arial"/>
              </a:rPr>
              <a:t>•  Event-sourced core · machine-first ledger · 8 protective rules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480560"/>
            <a:ext cx="9144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C26200"/>
                </a:solidFill>
                <a:latin typeface="Arial"/>
                <a:hlinkClick r:id="rId2"/>
              </a:rPr>
              <a:t>▶  Open the live demo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C26200"/>
                </a:solidFill>
                <a:latin typeface="Arial"/>
                <a:hlinkClick r:id="rId3"/>
              </a:rPr>
              <a:t>★  Source on GitHub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03504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6B7284"/>
                </a:solidFill>
                <a:latin typeface="Arial"/>
              </a:rPr>
              <a:t>https://resq-2-jrec.onrender.com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4000"/>
            </a:avLst>
          </a:prstGeom>
          <a:solidFill>
            <a:srgbClr val="F6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64592" cy="6858000"/>
          </a:xfrm>
          <a:prstGeom prst="roundRect">
            <a:avLst>
              <a:gd name="adj" fmla="val 4000"/>
            </a:avLst>
          </a:prstGeom>
          <a:solidFill>
            <a:srgbClr val="E882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E8820C"/>
                </a:solidFill>
                <a:latin typeface="Arial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7498079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16233F"/>
                </a:solidFill>
                <a:latin typeface="Arial"/>
              </a:rPr>
              <a:t>Service today leaks trust at every step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105156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900" b="0">
                <a:solidFill>
                  <a:srgbClr val="16233F"/>
                </a:solidFill>
                <a:latin typeface="Arial"/>
              </a:rPr>
              <a:t>•  Customers chase updates over calls — no single thread, no status.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900" b="0">
                <a:solidFill>
                  <a:srgbClr val="16233F"/>
                </a:solidFill>
                <a:latin typeface="Arial"/>
              </a:rPr>
              <a:t>•  Jobs bounce between owner, technician and desk with no system of record.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900" b="0">
                <a:solidFill>
                  <a:srgbClr val="16233F"/>
                </a:solidFill>
                <a:latin typeface="Arial"/>
              </a:rPr>
              <a:t>•  Cash paid before work is verified; disputes have no audit trail.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900" b="0">
                <a:solidFill>
                  <a:srgbClr val="16233F"/>
                </a:solidFill>
                <a:latin typeface="Arial"/>
              </a:rPr>
              <a:t>•  Field edge-cases (wrong serial, no-show, damage) fall through the cracks.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4000"/>
            </a:avLst>
          </a:prstGeom>
          <a:solidFill>
            <a:srgbClr val="F6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64592" cy="6858000"/>
          </a:xfrm>
          <a:prstGeom prst="roundRect">
            <a:avLst>
              <a:gd name="adj" fmla="val 4000"/>
            </a:avLst>
          </a:prstGeom>
          <a:solidFill>
            <a:srgbClr val="E882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E8820C"/>
                </a:solidFill>
                <a:latin typeface="Arial"/>
              </a:rP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7498079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16233F"/>
                </a:solidFill>
                <a:latin typeface="Arial"/>
              </a:rPr>
              <a:t>One agent on the channel people already 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105156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900" b="0">
                <a:solidFill>
                  <a:srgbClr val="16233F"/>
                </a:solidFill>
                <a:latin typeface="Arial"/>
              </a:rPr>
              <a:t>•  Customer, owner, field and area each get their own WhatsApp number.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900" b="0">
                <a:solidFill>
                  <a:srgbClr val="16233F"/>
                </a:solidFill>
                <a:latin typeface="Arial"/>
              </a:rPr>
              <a:t>•  The agent books, assigns, tracks and closes — in plain language (incl. Hindi).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900" b="0">
                <a:solidFill>
                  <a:srgbClr val="16233F"/>
                </a:solidFill>
                <a:latin typeface="Arial"/>
              </a:rPr>
              <a:t>•  Every action is an append-only event: the ledger is the source of truth.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900" b="0">
                <a:solidFill>
                  <a:srgbClr val="16233F"/>
                </a:solidFill>
                <a:latin typeface="Arial"/>
              </a:rPr>
              <a:t>•  When a human must step in, the desk takes over the thread — then hands back.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4000"/>
            </a:avLst>
          </a:prstGeom>
          <a:solidFill>
            <a:srgbClr val="F6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64592" cy="6858000"/>
          </a:xfrm>
          <a:prstGeom prst="roundRect">
            <a:avLst>
              <a:gd name="adj" fmla="val 4000"/>
            </a:avLst>
          </a:prstGeom>
          <a:solidFill>
            <a:srgbClr val="E882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E8820C"/>
                </a:solidFill>
                <a:latin typeface="Arial"/>
              </a:rPr>
              <a:t>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7498079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16233F"/>
                </a:solidFill>
                <a:latin typeface="Arial"/>
              </a:rPr>
              <a:t>Four phones, one engine, in real time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25135" y="1737360"/>
            <a:ext cx="6217920" cy="395477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6575" y="1828800"/>
            <a:ext cx="6035040" cy="377189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103120"/>
            <a:ext cx="45720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700" b="0">
                <a:solidFill>
                  <a:srgbClr val="16233F"/>
                </a:solidFill>
                <a:latin typeface="Arial"/>
              </a:rPr>
              <a:t>Install booked by the customer → offered to the owner → tracked by the area desk — all driven by the same event-sourced agent.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937760"/>
            <a:ext cx="45720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C26200"/>
                </a:solidFill>
                <a:latin typeface="Arial"/>
                <a:hlinkClick r:id="rId3"/>
              </a:rPr>
              <a:t>→  Open /demo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4000"/>
            </a:avLst>
          </a:prstGeom>
          <a:solidFill>
            <a:srgbClr val="F6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64592" cy="6858000"/>
          </a:xfrm>
          <a:prstGeom prst="roundRect">
            <a:avLst>
              <a:gd name="adj" fmla="val 4000"/>
            </a:avLst>
          </a:prstGeom>
          <a:solidFill>
            <a:srgbClr val="E882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E8820C"/>
                </a:solidFill>
                <a:latin typeface="Arial"/>
              </a:rPr>
              <a:t>CUSTOMER 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7498079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16233F"/>
                </a:solidFill>
                <a:latin typeface="Arial"/>
              </a:rPr>
              <a:t>A branded app that falls back to chat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94215" y="1737360"/>
            <a:ext cx="2148840" cy="4206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ustom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5655" y="1828800"/>
            <a:ext cx="1965960" cy="4023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103120"/>
            <a:ext cx="45720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700" b="0">
                <a:solidFill>
                  <a:srgbClr val="16233F"/>
                </a:solidFill>
                <a:latin typeface="Arial"/>
              </a:rPr>
              <a:t>Repair &amp; maintenance tiles open the WhatsApp thread and trigger the real journey intent. Photo, voice and Hindi all supported.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937760"/>
            <a:ext cx="45720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C26200"/>
                </a:solidFill>
                <a:latin typeface="Arial"/>
                <a:hlinkClick r:id="rId3"/>
              </a:rPr>
              <a:t>→  Open /customer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4000"/>
            </a:avLst>
          </a:prstGeom>
          <a:solidFill>
            <a:srgbClr val="F6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64592" cy="6858000"/>
          </a:xfrm>
          <a:prstGeom prst="roundRect">
            <a:avLst>
              <a:gd name="adj" fmla="val 4000"/>
            </a:avLst>
          </a:prstGeom>
          <a:solidFill>
            <a:srgbClr val="E882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E8820C"/>
                </a:solidFill>
                <a:latin typeface="Arial"/>
              </a:rPr>
              <a:t>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7498079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16233F"/>
                </a:solidFill>
                <a:latin typeface="Arial"/>
              </a:rPr>
              <a:t>Role consoles for owner, field &amp; area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25135" y="1737360"/>
            <a:ext cx="6217920" cy="395477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r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6575" y="1828800"/>
            <a:ext cx="6035040" cy="377189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103120"/>
            <a:ext cx="45720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700" b="0">
                <a:solidFill>
                  <a:srgbClr val="16233F"/>
                </a:solidFill>
                <a:latin typeface="Arial"/>
              </a:rPr>
              <a:t>Area managers act only on exceptions; everything else the agent handles. Live jobs-by-state, action register (accept/reject), digest.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937760"/>
            <a:ext cx="45720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C26200"/>
                </a:solidFill>
                <a:latin typeface="Arial"/>
                <a:hlinkClick r:id="rId3"/>
              </a:rPr>
              <a:t>→  /area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C26200"/>
                </a:solidFill>
                <a:latin typeface="Arial"/>
                <a:hlinkClick r:id="rId4"/>
              </a:rPr>
              <a:t>→  /owner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C26200"/>
                </a:solidFill>
                <a:latin typeface="Arial"/>
                <a:hlinkClick r:id="rId5"/>
              </a:rPr>
              <a:t>→  /field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4000"/>
            </a:avLst>
          </a:prstGeom>
          <a:solidFill>
            <a:srgbClr val="F6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64592" cy="6858000"/>
          </a:xfrm>
          <a:prstGeom prst="roundRect">
            <a:avLst>
              <a:gd name="adj" fmla="val 4000"/>
            </a:avLst>
          </a:prstGeom>
          <a:solidFill>
            <a:srgbClr val="E882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E8820C"/>
                </a:solidFill>
                <a:latin typeface="Arial"/>
              </a:rPr>
              <a:t>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7498079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16233F"/>
                </a:solidFill>
                <a:latin typeface="Arial"/>
              </a:rPr>
              <a:t>No-code control of the agent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25135" y="1737360"/>
            <a:ext cx="6217920" cy="395477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6575" y="1828800"/>
            <a:ext cx="6035040" cy="377189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103120"/>
            <a:ext cx="45720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700" b="0">
                <a:solidFill>
                  <a:srgbClr val="16233F"/>
                </a:solidFill>
                <a:latin typeface="Arial"/>
              </a:rPr>
              <a:t>Onboard people, edit the rate card and routing/diagnosis as human-friendly tables — no deploy. Rules &amp; SLAs stay hard-coded for safety.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937760"/>
            <a:ext cx="45720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C26200"/>
                </a:solidFill>
                <a:latin typeface="Arial"/>
                <a:hlinkClick r:id="rId3"/>
              </a:rPr>
              <a:t>→  Open /admin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4000"/>
            </a:avLst>
          </a:prstGeom>
          <a:solidFill>
            <a:srgbClr val="F6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64592" cy="6858000"/>
          </a:xfrm>
          <a:prstGeom prst="roundRect">
            <a:avLst>
              <a:gd name="adj" fmla="val 4000"/>
            </a:avLst>
          </a:prstGeom>
          <a:solidFill>
            <a:srgbClr val="E882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E8820C"/>
                </a:solidFill>
                <a:latin typeface="Arial"/>
              </a:rPr>
              <a:t>COVERAGE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7498079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16233F"/>
                </a:solidFill>
                <a:latin typeface="Arial"/>
              </a:rPr>
              <a:t>All thirteen journeys, end to end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11680"/>
            <a:ext cx="2468880" cy="685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2011680"/>
            <a:ext cx="21945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6233F"/>
                </a:solidFill>
                <a:latin typeface="Arial"/>
              </a:rPr>
              <a:t>J1 Install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2011680"/>
            <a:ext cx="2468880" cy="685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56432" y="2011680"/>
            <a:ext cx="21945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6233F"/>
                </a:solidFill>
                <a:latin typeface="Arial"/>
              </a:rPr>
              <a:t>J2 Repair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2011680"/>
            <a:ext cx="2468880" cy="685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08192" y="2011680"/>
            <a:ext cx="21945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6233F"/>
                </a:solidFill>
                <a:latin typeface="Arial"/>
              </a:rPr>
              <a:t>J3 Maintenance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95360" y="2011680"/>
            <a:ext cx="2468880" cy="685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59952" y="2011680"/>
            <a:ext cx="21945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6233F"/>
                </a:solidFill>
                <a:latin typeface="Arial"/>
              </a:rPr>
              <a:t>J4 AMC / plan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880360"/>
            <a:ext cx="2468880" cy="685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1" y="2880360"/>
            <a:ext cx="21945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6233F"/>
                </a:solidFill>
                <a:latin typeface="Arial"/>
              </a:rPr>
              <a:t>J5 Reschedule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91840" y="2880360"/>
            <a:ext cx="2468880" cy="685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56432" y="2880360"/>
            <a:ext cx="21945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6233F"/>
                </a:solidFill>
                <a:latin typeface="Arial"/>
              </a:rPr>
              <a:t>J6 Spare part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0" y="2880360"/>
            <a:ext cx="2468880" cy="685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08192" y="2880360"/>
            <a:ext cx="21945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6233F"/>
                </a:solidFill>
                <a:latin typeface="Arial"/>
              </a:rPr>
              <a:t>J7 Payment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95360" y="2880360"/>
            <a:ext cx="2468880" cy="685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59952" y="2880360"/>
            <a:ext cx="21945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6233F"/>
                </a:solidFill>
                <a:latin typeface="Arial"/>
              </a:rPr>
              <a:t>J8 Warranty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749039"/>
            <a:ext cx="2468880" cy="685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1" y="3749039"/>
            <a:ext cx="21945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6233F"/>
                </a:solidFill>
                <a:latin typeface="Arial"/>
              </a:rPr>
              <a:t>J9 Relocation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91840" y="3749039"/>
            <a:ext cx="2468880" cy="685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56432" y="3749039"/>
            <a:ext cx="21945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6233F"/>
                </a:solidFill>
                <a:latin typeface="Arial"/>
              </a:rPr>
              <a:t>J10 Complaint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0" y="3749039"/>
            <a:ext cx="2468880" cy="685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08192" y="3749039"/>
            <a:ext cx="21945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6233F"/>
                </a:solidFill>
                <a:latin typeface="Arial"/>
              </a:rPr>
              <a:t>J11 Feedback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595360" y="3749039"/>
            <a:ext cx="2468880" cy="685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59952" y="3749039"/>
            <a:ext cx="21945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6233F"/>
                </a:solidFill>
                <a:latin typeface="Arial"/>
              </a:rPr>
              <a:t>J12 Roster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4617720"/>
            <a:ext cx="2468880" cy="685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4671" y="4617720"/>
            <a:ext cx="21945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6233F"/>
                </a:solidFill>
                <a:latin typeface="Arial"/>
              </a:rPr>
              <a:t>J13 Area ops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585216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6B7284"/>
                </a:solidFill>
                <a:latin typeface="Arial"/>
              </a:rPr>
              <a:t>Plus shared assign/visit flows, the §4.1 exception table and an 11-timer scheduler.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4000"/>
            </a:avLst>
          </a:prstGeom>
          <a:solidFill>
            <a:srgbClr val="F6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64592" cy="6858000"/>
          </a:xfrm>
          <a:prstGeom prst="roundRect">
            <a:avLst>
              <a:gd name="adj" fmla="val 4000"/>
            </a:avLst>
          </a:prstGeom>
          <a:solidFill>
            <a:srgbClr val="E882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E8820C"/>
                </a:solidFill>
                <a:latin typeface="Arial"/>
              </a:rPr>
              <a:t>TRUST BY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7498079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16233F"/>
                </a:solidFill>
                <a:latin typeface="Arial"/>
              </a:rPr>
              <a:t>Eight protective rules the agent cannot break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105156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900" b="0">
                <a:solidFill>
                  <a:srgbClr val="16233F"/>
                </a:solidFill>
                <a:latin typeface="Arial"/>
              </a:rPr>
              <a:t>•  Technicians can never take cash in hand.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900" b="0">
                <a:solidFill>
                  <a:srgbClr val="16233F"/>
                </a:solidFill>
                <a:latin typeface="Arial"/>
              </a:rPr>
              <a:t>•  No payout is released before the cooling-off window.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900" b="0">
                <a:solidFill>
                  <a:srgbClr val="16233F"/>
                </a:solidFill>
                <a:latin typeface="Arial"/>
              </a:rPr>
              <a:t>•  Serial mismatch halts the job and alerts the desk.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900" b="0">
                <a:solidFill>
                  <a:srgbClr val="16233F"/>
                </a:solidFill>
                <a:latin typeface="Arial"/>
              </a:rPr>
              <a:t>•  Every suggestion the agent makes is logged for accept/reject review.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66928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6B7284"/>
                </a:solidFill>
                <a:latin typeface="Arial"/>
              </a:rPr>
              <a:t>Prices, SLAs, event types and the state machine are hard-coded — never AI-generated.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4000"/>
            </a:avLst>
          </a:prstGeom>
          <a:solidFill>
            <a:srgbClr val="F6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64592" cy="6858000"/>
          </a:xfrm>
          <a:prstGeom prst="roundRect">
            <a:avLst>
              <a:gd name="adj" fmla="val 4000"/>
            </a:avLst>
          </a:prstGeom>
          <a:solidFill>
            <a:srgbClr val="E882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E8820C"/>
                </a:solidFill>
                <a:latin typeface="Arial"/>
              </a:rPr>
              <a:t>TRY IT YOURSELF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7498079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16233F"/>
                </a:solidFill>
                <a:latin typeface="Arial"/>
              </a:rPr>
              <a:t>Every surface is live right now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6B7284"/>
                </a:solidFill>
                <a:latin typeface="Arial"/>
              </a:rPr>
              <a:t>Tap any link — the deployed app resets cleanly and runs the real engine.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560320"/>
            <a:ext cx="5212080" cy="868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560320"/>
            <a:ext cx="48463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C26200"/>
                </a:solidFill>
                <a:latin typeface="Arial"/>
                <a:hlinkClick r:id="rId2"/>
              </a:rPr>
              <a:t>Live demo console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C26200"/>
                </a:solidFill>
                <a:latin typeface="Arial"/>
                <a:hlinkClick r:id="rId2"/>
              </a:rPr>
              <a:t>   https://resq-2-jrec.onrender.com/demo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2560320"/>
            <a:ext cx="5212080" cy="868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2560320"/>
            <a:ext cx="48463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C26200"/>
                </a:solidFill>
                <a:latin typeface="Arial"/>
                <a:hlinkClick r:id="rId3"/>
              </a:rPr>
              <a:t>Customer app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C26200"/>
                </a:solidFill>
                <a:latin typeface="Arial"/>
                <a:hlinkClick r:id="rId3"/>
              </a:rPr>
              <a:t>   https://resq-2-jrec.onrender.com/customer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657600"/>
            <a:ext cx="5212080" cy="868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657600"/>
            <a:ext cx="48463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C26200"/>
                </a:solidFill>
                <a:latin typeface="Arial"/>
                <a:hlinkClick r:id="rId4"/>
              </a:rPr>
              <a:t>Store owner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C26200"/>
                </a:solidFill>
                <a:latin typeface="Arial"/>
                <a:hlinkClick r:id="rId4"/>
              </a:rPr>
              <a:t>   https://resq-2-jrec.onrender.com/owner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3657600"/>
            <a:ext cx="5212080" cy="868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3657600"/>
            <a:ext cx="48463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C26200"/>
                </a:solidFill>
                <a:latin typeface="Arial"/>
                <a:hlinkClick r:id="rId5"/>
              </a:rPr>
              <a:t>Field technician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C26200"/>
                </a:solidFill>
                <a:latin typeface="Arial"/>
                <a:hlinkClick r:id="rId5"/>
              </a:rPr>
              <a:t>   https://resq-2-jrec.onrender.com/field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754879"/>
            <a:ext cx="5212080" cy="868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754879"/>
            <a:ext cx="48463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C26200"/>
                </a:solidFill>
                <a:latin typeface="Arial"/>
                <a:hlinkClick r:id="rId6"/>
              </a:rPr>
              <a:t>Area manager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C26200"/>
                </a:solidFill>
                <a:latin typeface="Arial"/>
                <a:hlinkClick r:id="rId6"/>
              </a:rPr>
              <a:t>   https://resq-2-jrec.onrender.com/area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4754879"/>
            <a:ext cx="5212080" cy="868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4754879"/>
            <a:ext cx="48463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C26200"/>
                </a:solidFill>
                <a:latin typeface="Arial"/>
                <a:hlinkClick r:id="rId7"/>
              </a:rPr>
              <a:t>Admin (no-code)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C26200"/>
                </a:solidFill>
                <a:latin typeface="Arial"/>
                <a:hlinkClick r:id="rId7"/>
              </a:rPr>
              <a:t>   https://resq-2-jrec.onrender.com/admin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